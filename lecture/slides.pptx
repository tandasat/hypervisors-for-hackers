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85" r:id="rId2"/>
    <p:sldId id="286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1. Introduction" id="{B124FC9B-8518-45B3-B28A-F6759FB0A9C4}">
          <p14:sldIdLst>
            <p14:sldId id="285"/>
            <p14:sldId id="286"/>
          </p14:sldIdLst>
        </p14:section>
        <p14:section name="1.2. Software vs hardware" id="{0397F626-3979-40A8-98FD-D3DD7778F797}">
          <p14:sldIdLst/>
        </p14:section>
        <p14:section name="1.3. Architectures" id="{66B4C89E-B869-4E0D-A96D-0D3B8229DD8A}">
          <p14:sldIdLst/>
        </p14:section>
        <p14:section name="2.1. Initialization and operations" id="{27BE0267-02EC-4837-91C1-469CE669052F}">
          <p14:sldIdLst/>
        </p14:section>
        <p14:section name="2.2. Overview" id="{A5013D73-B6F0-49B4-8C8A-0CC0725F6183}">
          <p14:sldIdLst/>
        </p14:section>
        <p14:section name="2.3. Terminology" id="{65972A7D-E83E-4044-8D9B-FAB7E9F57ABE}">
          <p14:sldIdLst/>
        </p14:section>
        <p14:section name="2.4. Enablement" id="{28342356-AE38-430C-A48A-146B3020FB8C}">
          <p14:sldIdLst/>
        </p14:section>
        <p14:section name="2.5. VMCS" id="{AC986408-1DBD-4334-A6D3-EA9F565BA5DA}">
          <p14:sldIdLst/>
        </p14:section>
        <p14:section name="2.6. Guest-state fields" id="{973C30EC-A43C-4115-9B77-4258C086E955}">
          <p14:sldIdLst/>
        </p14:section>
        <p14:section name="2.7. Host-state fields" id="{CA12B801-84A3-4686-97E6-92C9897071F8}">
          <p14:sldIdLst/>
        </p14:section>
        <p14:section name="2.8. Control fields" id="{217A4384-E083-4F63-8244-E9C3314136F7}">
          <p14:sldIdLst/>
        </p14:section>
        <p14:section name="2.9. VM-entry" id="{6C991406-E086-4DC4-B93D-4E66B0D77D1E}">
          <p14:sldIdLst/>
        </p14:section>
        <p14:section name="2.10. VMX non-root" id="{A03A7109-F519-4436-84A1-1B95089850ED}">
          <p14:sldIdLst/>
        </p14:section>
        <p14:section name="2.11. VM-exit" id="{3EF41F84-2E86-47E1-8D76-B8738B5DD33B}">
          <p14:sldIdLst/>
        </p14:section>
        <p14:section name="3.1 SDM" id="{AC02AD4D-99C1-43E7-9A60-FB1EA314E97E}">
          <p14:sldIdLst/>
        </p14:section>
        <p14:section name="4.1. Adding value" id="{CBE3D85C-FF7D-49B5-B295-510A28A93AFB}">
          <p14:sldIdLst/>
        </p14:section>
        <p14:section name="4.2. Shadowing" id="{9645F27F-4FE3-4FA4-B7A0-13F92D0941EA}">
          <p14:sldIdLst/>
        </p14:section>
        <p14:section name="4.3. Applications" id="{81DCC2E0-8411-43A5-BFA2-14F86FE222E6}">
          <p14:sldIdLst/>
        </p14:section>
        <p14:section name="4.4. Event Injection" id="{B7DBF7FD-9DD0-428D-A874-98CB59BCBE8F}">
          <p14:sldIdLst/>
        </p14:section>
        <p14:section name="5.1. Next step" id="{85CB7E87-A6B5-4A56-BB9E-2ECE0AB70180}">
          <p14:sldIdLst>
            <p14:sldId id="259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101" autoAdjust="0"/>
    <p:restoredTop sz="87607" autoAdjust="0"/>
  </p:normalViewPr>
  <p:slideViewPr>
    <p:cSldViewPr snapToGrid="0">
      <p:cViewPr varScale="1">
        <p:scale>
          <a:sx n="47" d="100"/>
          <a:sy n="47" d="100"/>
        </p:scale>
        <p:origin x="1068" y="264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B4F766-7592-402F-8098-05B0E0797F23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9767E2-C688-42AC-9779-AAE6255E2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191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28119-21C6-4606-B260-7B236542969F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96DAB-6631-4A82-9DAE-6EFB9C0B1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891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28119-21C6-4606-B260-7B236542969F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96DAB-6631-4A82-9DAE-6EFB9C0B1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654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28119-21C6-4606-B260-7B236542969F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96DAB-6631-4A82-9DAE-6EFB9C0B1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739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28119-21C6-4606-B260-7B236542969F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96DAB-6631-4A82-9DAE-6EFB9C0B1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937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28119-21C6-4606-B260-7B236542969F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96DAB-6631-4A82-9DAE-6EFB9C0B1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437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28119-21C6-4606-B260-7B236542969F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96DAB-6631-4A82-9DAE-6EFB9C0B1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08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28119-21C6-4606-B260-7B236542969F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96DAB-6631-4A82-9DAE-6EFB9C0B1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807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28119-21C6-4606-B260-7B236542969F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96DAB-6631-4A82-9DAE-6EFB9C0B1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401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28119-21C6-4606-B260-7B236542969F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96DAB-6631-4A82-9DAE-6EFB9C0B1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844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28119-21C6-4606-B260-7B236542969F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96DAB-6631-4A82-9DAE-6EFB9C0B1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343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28119-21C6-4606-B260-7B236542969F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96DAB-6631-4A82-9DAE-6EFB9C0B1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010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66379" y="1690137"/>
            <a:ext cx="8669100" cy="46662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828119-21C6-4606-B260-7B236542969F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F96DAB-6631-4A82-9DAE-6EFB9C0B169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6FB1162-A38C-17D0-30E2-A3939D5CD6DE}"/>
              </a:ext>
            </a:extLst>
          </p:cNvPr>
          <p:cNvSpPr txBox="1">
            <a:spLocks/>
          </p:cNvSpPr>
          <p:nvPr userDrawn="1"/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3082799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tandasat.github.io/Hypervisor_Development_for_Security_Researchers.html" TargetMode="External"/><Relationship Id="rId3" Type="http://schemas.openxmlformats.org/officeDocument/2006/relationships/hyperlink" Target="https://www.amazon.ca/Windows-Internals-Part-Mark-Russinovich/dp/0135462401" TargetMode="External"/><Relationship Id="rId7" Type="http://schemas.openxmlformats.org/officeDocument/2006/relationships/hyperlink" Target="https://www.mindshare.com/elearning-course/pc-virtualization-elearning-course" TargetMode="External"/><Relationship Id="rId2" Type="http://schemas.openxmlformats.org/officeDocument/2006/relationships/hyperlink" Target="Hardware%20and%20Software%20Support%20for%20Virtualizatio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.ost2.fyi/dashboard" TargetMode="External"/><Relationship Id="rId5" Type="http://schemas.openxmlformats.org/officeDocument/2006/relationships/hyperlink" Target="https://github.com/SinaKarvandi/Hypervisor-From-Scratch" TargetMode="External"/><Relationship Id="rId4" Type="http://schemas.openxmlformats.org/officeDocument/2006/relationships/hyperlink" Target="https://revers.engineering/7-days-to-virtualization-a-series-on-hypervisor-development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x.com/standa_t" TargetMode="External"/><Relationship Id="rId7" Type="http://schemas.openxmlformats.org/officeDocument/2006/relationships/image" Target="../media/image3.png"/><Relationship Id="rId2" Type="http://schemas.openxmlformats.org/officeDocument/2006/relationships/hyperlink" Target="https://www.linkedin.com/in/satoshitanda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hyperlink" Target="https://github.com/tandasa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75C78-1F04-7CC0-1E96-3FAAC8CCCC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Hypervisors for Hackers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164D1-11D9-6BF7-EE09-10E63E16A3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Security from the Hardware Up</a:t>
            </a:r>
          </a:p>
          <a:p>
            <a:endParaRPr lang="en-US" dirty="0"/>
          </a:p>
          <a:p>
            <a:r>
              <a:rPr lang="en-US" dirty="0"/>
              <a:t>Satoshi Tanda</a:t>
            </a:r>
          </a:p>
        </p:txBody>
      </p:sp>
    </p:spTree>
    <p:extLst>
      <p:ext uri="{BB962C8B-B14F-4D97-AF65-F5344CB8AC3E}">
        <p14:creationId xmlns:p14="http://schemas.microsoft.com/office/powerpoint/2010/main" val="3780170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6CF1D-17AB-F340-C9C8-2A10564B2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1906917"/>
          </a:xfrm>
        </p:spPr>
        <p:txBody>
          <a:bodyPr>
            <a:normAutofit/>
          </a:bodyPr>
          <a:lstStyle/>
          <a:p>
            <a:r>
              <a:rPr lang="en-US" sz="3600" dirty="0"/>
              <a:t>(Slides are intentionally left blank)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EE4C4-86F1-9270-3F63-3CD2E995B2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1853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EF5B5-7C33-E4E9-4A68-B9FEA780C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9DF37-5776-D34B-D7BC-CD3B9A3C3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6379" y="1690137"/>
            <a:ext cx="9732722" cy="4977364"/>
          </a:xfrm>
        </p:spPr>
        <p:txBody>
          <a:bodyPr>
            <a:normAutofit/>
          </a:bodyPr>
          <a:lstStyle/>
          <a:p>
            <a:r>
              <a:rPr lang="en-US" dirty="0"/>
              <a:t>Books</a:t>
            </a:r>
          </a:p>
          <a:p>
            <a:pPr lvl="1"/>
            <a:r>
              <a:rPr lang="en-US" dirty="0">
                <a:hlinkClick r:id="rId2" action="ppaction://hlinkfile"/>
              </a:rPr>
              <a:t>Hardware and Software Support for Virtualization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Windows Internals 7</a:t>
            </a:r>
            <a:r>
              <a:rPr lang="en-US" baseline="30000" dirty="0">
                <a:hlinkClick r:id="rId3"/>
              </a:rPr>
              <a:t>th</a:t>
            </a:r>
            <a:r>
              <a:rPr lang="en-US" dirty="0">
                <a:hlinkClick r:id="rId3"/>
              </a:rPr>
              <a:t> edition Part 2</a:t>
            </a:r>
            <a:r>
              <a:rPr lang="en-US" dirty="0"/>
              <a:t> (Chapter 9, Windows specific)</a:t>
            </a:r>
          </a:p>
          <a:p>
            <a:r>
              <a:rPr lang="en-US" dirty="0"/>
              <a:t>Free tutorials</a:t>
            </a:r>
          </a:p>
          <a:p>
            <a:pPr lvl="1"/>
            <a:r>
              <a:rPr lang="en-US" dirty="0">
                <a:hlinkClick r:id="rId4"/>
              </a:rPr>
              <a:t>5 Days To Virtualization: A Series On Hypervisor Development</a:t>
            </a:r>
            <a:endParaRPr lang="en-US" dirty="0"/>
          </a:p>
          <a:p>
            <a:pPr lvl="1"/>
            <a:r>
              <a:rPr lang="en-US" dirty="0">
                <a:hlinkClick r:id="rId5"/>
              </a:rPr>
              <a:t>Hypervisor From Scratch</a:t>
            </a:r>
            <a:endParaRPr lang="en-US" dirty="0"/>
          </a:p>
          <a:p>
            <a:pPr lvl="1"/>
            <a:r>
              <a:rPr lang="en-US" dirty="0">
                <a:hlinkClick r:id="rId6"/>
              </a:rPr>
              <a:t>OST2</a:t>
            </a:r>
            <a:r>
              <a:rPr lang="en-US" dirty="0"/>
              <a:t> - Architecture 3001: Intel Virtual Machine Extensions (VMX)</a:t>
            </a:r>
          </a:p>
          <a:p>
            <a:pPr lvl="2"/>
            <a:r>
              <a:rPr lang="en-US" dirty="0"/>
              <a:t>Coming soon!</a:t>
            </a:r>
          </a:p>
          <a:p>
            <a:r>
              <a:rPr lang="en-US" dirty="0"/>
              <a:t>4 days-long trainings</a:t>
            </a:r>
          </a:p>
          <a:p>
            <a:pPr lvl="1"/>
            <a:r>
              <a:rPr lang="en-US" dirty="0">
                <a:hlinkClick r:id="rId7"/>
              </a:rPr>
              <a:t>PC Virtualization eLearning Course</a:t>
            </a:r>
            <a:endParaRPr lang="en-US" dirty="0"/>
          </a:p>
          <a:p>
            <a:pPr lvl="1"/>
            <a:r>
              <a:rPr lang="en-US" dirty="0">
                <a:hlinkClick r:id="rId8"/>
              </a:rPr>
              <a:t>Hypervisor Development for Security Researchers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8220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D93F0-BD35-7E73-B9D0-808D837A0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A31EB-C12A-3E9C-C0C2-342B72A59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Satoshi Tanda</a:t>
            </a:r>
          </a:p>
          <a:p>
            <a:pPr marL="914400" lvl="2" indent="0">
              <a:buNone/>
            </a:pPr>
            <a:r>
              <a:rPr lang="en-US" dirty="0">
                <a:hlinkClick r:id="rId2"/>
              </a:rPr>
              <a:t>in/</a:t>
            </a:r>
            <a:r>
              <a:rPr lang="en-US" dirty="0" err="1">
                <a:hlinkClick r:id="rId2"/>
              </a:rPr>
              <a:t>satoshitanda</a:t>
            </a:r>
            <a:endParaRPr lang="en-US" dirty="0"/>
          </a:p>
          <a:p>
            <a:pPr marL="914400" lvl="2" indent="0">
              <a:buNone/>
            </a:pPr>
            <a:r>
              <a:rPr lang="en-US" dirty="0">
                <a:hlinkClick r:id="rId3"/>
              </a:rPr>
              <a:t>@standa_t</a:t>
            </a:r>
            <a:endParaRPr lang="en-US" dirty="0"/>
          </a:p>
          <a:p>
            <a:pPr marL="914400" lvl="2" indent="0">
              <a:buNone/>
            </a:pPr>
            <a:r>
              <a:rPr lang="en-US" dirty="0">
                <a:hlinkClick r:id="rId4"/>
              </a:rPr>
              <a:t>@tandasat</a:t>
            </a:r>
            <a:endParaRPr lang="en-US" dirty="0"/>
          </a:p>
          <a:p>
            <a:pPr lvl="1"/>
            <a:r>
              <a:rPr lang="en-US" dirty="0"/>
              <a:t>An avid camper, traveler and security engineer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7E5FFEE-F392-768B-3B05-E48D80D491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1477" y="2201526"/>
            <a:ext cx="302699" cy="302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FF156FE-9177-DDEF-6E26-7883E53E75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2521" y="2555579"/>
            <a:ext cx="298376" cy="302699"/>
          </a:xfrm>
          <a:prstGeom prst="rect">
            <a:avLst/>
          </a:prstGeom>
        </p:spPr>
      </p:pic>
      <p:pic>
        <p:nvPicPr>
          <p:cNvPr id="15" name="Picture 14" descr="Github Logo - Free social media icons">
            <a:extLst>
              <a:ext uri="{FF2B5EF4-FFF2-40B4-BE49-F238E27FC236}">
                <a16:creationId xmlns:a16="http://schemas.microsoft.com/office/drawing/2014/main" id="{EB0A7A5B-15FC-AE48-515B-316E5D0843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576" y="2892730"/>
            <a:ext cx="302699" cy="302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5E533D6-8EAC-0173-8C52-11356C2B660E}"/>
              </a:ext>
            </a:extLst>
          </p:cNvPr>
          <p:cNvSpPr txBox="1"/>
          <p:nvPr/>
        </p:nvSpPr>
        <p:spPr>
          <a:xfrm>
            <a:off x="5816600" y="4279900"/>
            <a:ext cx="524444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500338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735</TotalTime>
  <Words>103</Words>
  <Application>Microsoft Office PowerPoint</Application>
  <PresentationFormat>Widescreen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Hypervisors for Hackers</vt:lpstr>
      <vt:lpstr>(Slides are intentionally left blank)</vt:lpstr>
      <vt:lpstr>Resources</vt:lpstr>
      <vt:lpstr>About 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Satoshi Tanda</dc:creator>
  <cp:lastModifiedBy>Satoshi Tanda</cp:lastModifiedBy>
  <cp:revision>43</cp:revision>
  <dcterms:created xsi:type="dcterms:W3CDTF">2025-01-30T16:17:45Z</dcterms:created>
  <dcterms:modified xsi:type="dcterms:W3CDTF">2026-02-05T16:55:52Z</dcterms:modified>
</cp:coreProperties>
</file>